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74" r:id="rId12"/>
    <p:sldId id="275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149F6-AB08-4235-B472-B4AEC333E8E8}" v="14" dt="2026-03-30T10:52:38.30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34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rajsinh Mahida" userId="84b7848dd6c99c19" providerId="LiveId" clId="{1473B5B6-96EF-4E71-B95F-22DF864A43BB}"/>
    <pc:docChg chg="undo custSel addSld delSld modSld">
      <pc:chgData name="Hemrajsinh Mahida" userId="84b7848dd6c99c19" providerId="LiveId" clId="{1473B5B6-96EF-4E71-B95F-22DF864A43BB}" dt="2026-03-30T10:52:38.307" v="324"/>
      <pc:docMkLst>
        <pc:docMk/>
      </pc:docMkLst>
      <pc:sldChg chg="addSp delSp modSp mod">
        <pc:chgData name="Hemrajsinh Mahida" userId="84b7848dd6c99c19" providerId="LiveId" clId="{1473B5B6-96EF-4E71-B95F-22DF864A43BB}" dt="2026-03-30T10:44:26.142" v="238" actId="20577"/>
        <pc:sldMkLst>
          <pc:docMk/>
          <pc:sldMk cId="0" sldId="256"/>
        </pc:sldMkLst>
        <pc:spChg chg="mod">
          <ac:chgData name="Hemrajsinh Mahida" userId="84b7848dd6c99c19" providerId="LiveId" clId="{1473B5B6-96EF-4E71-B95F-22DF864A43BB}" dt="2026-03-30T09:51:41.434" v="7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Hemrajsinh Mahida" userId="84b7848dd6c99c19" providerId="LiveId" clId="{1473B5B6-96EF-4E71-B95F-22DF864A43BB}" dt="2026-03-30T10:44:26.142" v="238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Hemrajsinh Mahida" userId="84b7848dd6c99c19" providerId="LiveId" clId="{1473B5B6-96EF-4E71-B95F-22DF864A43BB}" dt="2026-03-30T09:50:16.060" v="0" actId="21"/>
          <ac:picMkLst>
            <pc:docMk/>
            <pc:sldMk cId="0" sldId="256"/>
            <ac:picMk id="11" creationId="{00000000-0000-0000-0000-000000000000}"/>
          </ac:picMkLst>
        </pc:picChg>
        <pc:picChg chg="add mod">
          <ac:chgData name="Hemrajsinh Mahida" userId="84b7848dd6c99c19" providerId="LiveId" clId="{1473B5B6-96EF-4E71-B95F-22DF864A43BB}" dt="2026-03-30T09:50:45.899" v="4" actId="14100"/>
          <ac:picMkLst>
            <pc:docMk/>
            <pc:sldMk cId="0" sldId="256"/>
            <ac:picMk id="14" creationId="{4FC4F971-AC35-7FC7-F2B0-213D0DEE8240}"/>
          </ac:picMkLst>
        </pc:picChg>
      </pc:sldChg>
      <pc:sldChg chg="modSp mod">
        <pc:chgData name="Hemrajsinh Mahida" userId="84b7848dd6c99c19" providerId="LiveId" clId="{1473B5B6-96EF-4E71-B95F-22DF864A43BB}" dt="2026-03-30T10:44:55.099" v="243" actId="20577"/>
        <pc:sldMkLst>
          <pc:docMk/>
          <pc:sldMk cId="0" sldId="258"/>
        </pc:sldMkLst>
        <pc:spChg chg="mod">
          <ac:chgData name="Hemrajsinh Mahida" userId="84b7848dd6c99c19" providerId="LiveId" clId="{1473B5B6-96EF-4E71-B95F-22DF864A43BB}" dt="2026-03-30T10:44:55.099" v="24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Hemrajsinh Mahida" userId="84b7848dd6c99c19" providerId="LiveId" clId="{1473B5B6-96EF-4E71-B95F-22DF864A43BB}" dt="2026-03-30T10:45:13.682" v="248" actId="20577"/>
        <pc:sldMkLst>
          <pc:docMk/>
          <pc:sldMk cId="0" sldId="259"/>
        </pc:sldMkLst>
        <pc:spChg chg="mod">
          <ac:chgData name="Hemrajsinh Mahida" userId="84b7848dd6c99c19" providerId="LiveId" clId="{1473B5B6-96EF-4E71-B95F-22DF864A43BB}" dt="2026-03-30T10:45:13.682" v="24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Hemrajsinh Mahida" userId="84b7848dd6c99c19" providerId="LiveId" clId="{1473B5B6-96EF-4E71-B95F-22DF864A43BB}" dt="2026-03-30T10:45:38.790" v="256" actId="20577"/>
        <pc:sldMkLst>
          <pc:docMk/>
          <pc:sldMk cId="0" sldId="260"/>
        </pc:sldMkLst>
        <pc:spChg chg="mod">
          <ac:chgData name="Hemrajsinh Mahida" userId="84b7848dd6c99c19" providerId="LiveId" clId="{1473B5B6-96EF-4E71-B95F-22DF864A43BB}" dt="2026-03-30T10:45:38.790" v="25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Hemrajsinh Mahida" userId="84b7848dd6c99c19" providerId="LiveId" clId="{1473B5B6-96EF-4E71-B95F-22DF864A43BB}" dt="2026-03-30T10:45:56.900" v="259" actId="20577"/>
        <pc:sldMkLst>
          <pc:docMk/>
          <pc:sldMk cId="0" sldId="261"/>
        </pc:sldMkLst>
        <pc:spChg chg="mod">
          <ac:chgData name="Hemrajsinh Mahida" userId="84b7848dd6c99c19" providerId="LiveId" clId="{1473B5B6-96EF-4E71-B95F-22DF864A43BB}" dt="2026-03-30T10:45:56.900" v="259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Hemrajsinh Mahida" userId="84b7848dd6c99c19" providerId="LiveId" clId="{1473B5B6-96EF-4E71-B95F-22DF864A43BB}" dt="2026-03-30T10:09:09.666" v="210" actId="113"/>
        <pc:sldMkLst>
          <pc:docMk/>
          <pc:sldMk cId="0" sldId="262"/>
        </pc:sldMkLst>
        <pc:spChg chg="mod">
          <ac:chgData name="Hemrajsinh Mahida" userId="84b7848dd6c99c19" providerId="LiveId" clId="{1473B5B6-96EF-4E71-B95F-22DF864A43BB}" dt="2026-03-30T10:09:09.666" v="210" actId="113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Hemrajsinh Mahida" userId="84b7848dd6c99c19" providerId="LiveId" clId="{1473B5B6-96EF-4E71-B95F-22DF864A43BB}" dt="2026-03-30T10:05:32.771" v="181" actId="2696"/>
        <pc:sldMkLst>
          <pc:docMk/>
          <pc:sldMk cId="0" sldId="263"/>
        </pc:sldMkLst>
      </pc:sldChg>
      <pc:sldChg chg="del">
        <pc:chgData name="Hemrajsinh Mahida" userId="84b7848dd6c99c19" providerId="LiveId" clId="{1473B5B6-96EF-4E71-B95F-22DF864A43BB}" dt="2026-03-30T10:05:36.349" v="182" actId="2696"/>
        <pc:sldMkLst>
          <pc:docMk/>
          <pc:sldMk cId="0" sldId="264"/>
        </pc:sldMkLst>
      </pc:sldChg>
      <pc:sldChg chg="del">
        <pc:chgData name="Hemrajsinh Mahida" userId="84b7848dd6c99c19" providerId="LiveId" clId="{1473B5B6-96EF-4E71-B95F-22DF864A43BB}" dt="2026-03-30T10:05:40.705" v="183" actId="2696"/>
        <pc:sldMkLst>
          <pc:docMk/>
          <pc:sldMk cId="0" sldId="265"/>
        </pc:sldMkLst>
      </pc:sldChg>
      <pc:sldChg chg="del">
        <pc:chgData name="Hemrajsinh Mahida" userId="84b7848dd6c99c19" providerId="LiveId" clId="{1473B5B6-96EF-4E71-B95F-22DF864A43BB}" dt="2026-03-30T10:05:45.372" v="184" actId="2696"/>
        <pc:sldMkLst>
          <pc:docMk/>
          <pc:sldMk cId="0" sldId="266"/>
        </pc:sldMkLst>
      </pc:sldChg>
      <pc:sldChg chg="modSp mod">
        <pc:chgData name="Hemrajsinh Mahida" userId="84b7848dd6c99c19" providerId="LiveId" clId="{1473B5B6-96EF-4E71-B95F-22DF864A43BB}" dt="2026-03-30T10:46:18.860" v="265" actId="20577"/>
        <pc:sldMkLst>
          <pc:docMk/>
          <pc:sldMk cId="0" sldId="267"/>
        </pc:sldMkLst>
        <pc:spChg chg="mod">
          <ac:chgData name="Hemrajsinh Mahida" userId="84b7848dd6c99c19" providerId="LiveId" clId="{1473B5B6-96EF-4E71-B95F-22DF864A43BB}" dt="2026-03-30T10:46:18.860" v="265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Hemrajsinh Mahida" userId="84b7848dd6c99c19" providerId="LiveId" clId="{1473B5B6-96EF-4E71-B95F-22DF864A43BB}" dt="2026-03-30T10:46:34.014" v="272" actId="20577"/>
        <pc:sldMkLst>
          <pc:docMk/>
          <pc:sldMk cId="0" sldId="268"/>
        </pc:sldMkLst>
        <pc:spChg chg="mod">
          <ac:chgData name="Hemrajsinh Mahida" userId="84b7848dd6c99c19" providerId="LiveId" clId="{1473B5B6-96EF-4E71-B95F-22DF864A43BB}" dt="2026-03-30T10:46:34.014" v="272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Hemrajsinh Mahida" userId="84b7848dd6c99c19" providerId="LiveId" clId="{1473B5B6-96EF-4E71-B95F-22DF864A43BB}" dt="2026-03-30T10:52:38.307" v="324"/>
        <pc:sldMkLst>
          <pc:docMk/>
          <pc:sldMk cId="0" sldId="269"/>
        </pc:sldMkLst>
        <pc:spChg chg="mod">
          <ac:chgData name="Hemrajsinh Mahida" userId="84b7848dd6c99c19" providerId="LiveId" clId="{1473B5B6-96EF-4E71-B95F-22DF864A43BB}" dt="2026-03-30T10:08:40.633" v="207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Hemrajsinh Mahida" userId="84b7848dd6c99c19" providerId="LiveId" clId="{1473B5B6-96EF-4E71-B95F-22DF864A43BB}" dt="2026-03-30T10:52:38.307" v="324"/>
          <ac:spMkLst>
            <pc:docMk/>
            <pc:sldMk cId="0" sldId="269"/>
            <ac:spMk id="3" creationId="{00000000-0000-0000-0000-000000000000}"/>
          </ac:spMkLst>
        </pc:spChg>
      </pc:sldChg>
      <pc:sldChg chg="addSp modSp new mod">
        <pc:chgData name="Hemrajsinh Mahida" userId="84b7848dd6c99c19" providerId="LiveId" clId="{1473B5B6-96EF-4E71-B95F-22DF864A43BB}" dt="2026-03-30T10:20:51.610" v="225" actId="931"/>
        <pc:sldMkLst>
          <pc:docMk/>
          <pc:sldMk cId="165317140" sldId="271"/>
        </pc:sldMkLst>
        <pc:picChg chg="add mod">
          <ac:chgData name="Hemrajsinh Mahida" userId="84b7848dd6c99c19" providerId="LiveId" clId="{1473B5B6-96EF-4E71-B95F-22DF864A43BB}" dt="2026-03-30T10:20:51.610" v="225" actId="931"/>
          <ac:picMkLst>
            <pc:docMk/>
            <pc:sldMk cId="165317140" sldId="271"/>
            <ac:picMk id="3" creationId="{6E481B98-F8A5-4E35-0B05-C8F103E87CD8}"/>
          </ac:picMkLst>
        </pc:picChg>
      </pc:sldChg>
      <pc:sldChg chg="new del">
        <pc:chgData name="Hemrajsinh Mahida" userId="84b7848dd6c99c19" providerId="LiveId" clId="{1473B5B6-96EF-4E71-B95F-22DF864A43BB}" dt="2026-03-30T10:20:14.334" v="222" actId="2696"/>
        <pc:sldMkLst>
          <pc:docMk/>
          <pc:sldMk cId="2869871998" sldId="271"/>
        </pc:sldMkLst>
      </pc:sldChg>
      <pc:sldChg chg="addSp modSp new mod">
        <pc:chgData name="Hemrajsinh Mahida" userId="84b7848dd6c99c19" providerId="LiveId" clId="{1473B5B6-96EF-4E71-B95F-22DF864A43BB}" dt="2026-03-30T10:21:42.185" v="226" actId="931"/>
        <pc:sldMkLst>
          <pc:docMk/>
          <pc:sldMk cId="3225869426" sldId="272"/>
        </pc:sldMkLst>
        <pc:picChg chg="add mod">
          <ac:chgData name="Hemrajsinh Mahida" userId="84b7848dd6c99c19" providerId="LiveId" clId="{1473B5B6-96EF-4E71-B95F-22DF864A43BB}" dt="2026-03-30T10:21:42.185" v="226" actId="931"/>
          <ac:picMkLst>
            <pc:docMk/>
            <pc:sldMk cId="3225869426" sldId="272"/>
            <ac:picMk id="3" creationId="{0379C9AF-57B2-84EF-6B14-82BC39A328E6}"/>
          </ac:picMkLst>
        </pc:picChg>
      </pc:sldChg>
      <pc:sldChg chg="addSp modSp new mod">
        <pc:chgData name="Hemrajsinh Mahida" userId="84b7848dd6c99c19" providerId="LiveId" clId="{1473B5B6-96EF-4E71-B95F-22DF864A43BB}" dt="2026-03-30T10:22:29.999" v="230" actId="931"/>
        <pc:sldMkLst>
          <pc:docMk/>
          <pc:sldMk cId="43569243" sldId="273"/>
        </pc:sldMkLst>
        <pc:picChg chg="add mod">
          <ac:chgData name="Hemrajsinh Mahida" userId="84b7848dd6c99c19" providerId="LiveId" clId="{1473B5B6-96EF-4E71-B95F-22DF864A43BB}" dt="2026-03-30T10:22:29.999" v="230" actId="931"/>
          <ac:picMkLst>
            <pc:docMk/>
            <pc:sldMk cId="43569243" sldId="273"/>
            <ac:picMk id="3" creationId="{0DF706DA-1551-31CB-33D2-8962F50DC3B4}"/>
          </ac:picMkLst>
        </pc:picChg>
      </pc:sldChg>
      <pc:sldChg chg="addSp modSp new mod">
        <pc:chgData name="Hemrajsinh Mahida" userId="84b7848dd6c99c19" providerId="LiveId" clId="{1473B5B6-96EF-4E71-B95F-22DF864A43BB}" dt="2026-03-30T10:22:41.094" v="231" actId="931"/>
        <pc:sldMkLst>
          <pc:docMk/>
          <pc:sldMk cId="2844207043" sldId="274"/>
        </pc:sldMkLst>
        <pc:picChg chg="add mod">
          <ac:chgData name="Hemrajsinh Mahida" userId="84b7848dd6c99c19" providerId="LiveId" clId="{1473B5B6-96EF-4E71-B95F-22DF864A43BB}" dt="2026-03-30T10:22:41.094" v="231" actId="931"/>
          <ac:picMkLst>
            <pc:docMk/>
            <pc:sldMk cId="2844207043" sldId="274"/>
            <ac:picMk id="3" creationId="{39550111-F4FD-14D0-461F-6418D2765D49}"/>
          </ac:picMkLst>
        </pc:picChg>
      </pc:sldChg>
      <pc:sldChg chg="addSp modSp new mod">
        <pc:chgData name="Hemrajsinh Mahida" userId="84b7848dd6c99c19" providerId="LiveId" clId="{1473B5B6-96EF-4E71-B95F-22DF864A43BB}" dt="2026-03-30T10:22:57.268" v="232" actId="931"/>
        <pc:sldMkLst>
          <pc:docMk/>
          <pc:sldMk cId="852433086" sldId="275"/>
        </pc:sldMkLst>
        <pc:picChg chg="add mod">
          <ac:chgData name="Hemrajsinh Mahida" userId="84b7848dd6c99c19" providerId="LiveId" clId="{1473B5B6-96EF-4E71-B95F-22DF864A43BB}" dt="2026-03-30T10:22:57.268" v="232" actId="931"/>
          <ac:picMkLst>
            <pc:docMk/>
            <pc:sldMk cId="852433086" sldId="275"/>
            <ac:picMk id="3" creationId="{8EB14F15-AE98-1415-5FB2-2726ACCE7D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2725" cy="657225"/>
          </a:xfrm>
          <a:custGeom>
            <a:avLst/>
            <a:gdLst/>
            <a:ahLst/>
            <a:cxnLst/>
            <a:rect l="l" t="t" r="r" b="b"/>
            <a:pathLst>
              <a:path w="10372725" h="657225">
                <a:moveTo>
                  <a:pt x="10372725" y="0"/>
                </a:moveTo>
                <a:lnTo>
                  <a:pt x="0" y="0"/>
                </a:lnTo>
                <a:lnTo>
                  <a:pt x="0" y="657225"/>
                </a:lnTo>
                <a:lnTo>
                  <a:pt x="10372725" y="657225"/>
                </a:lnTo>
                <a:lnTo>
                  <a:pt x="10372725" y="0"/>
                </a:lnTo>
                <a:close/>
              </a:path>
            </a:pathLst>
          </a:custGeom>
          <a:solidFill>
            <a:srgbClr val="2435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96075"/>
            <a:ext cx="12192000" cy="161925"/>
          </a:xfrm>
          <a:custGeom>
            <a:avLst/>
            <a:gdLst/>
            <a:ahLst/>
            <a:cxnLst/>
            <a:rect l="l" t="t" r="r" b="b"/>
            <a:pathLst>
              <a:path w="12192000" h="161925">
                <a:moveTo>
                  <a:pt x="12192000" y="0"/>
                </a:moveTo>
                <a:lnTo>
                  <a:pt x="0" y="0"/>
                </a:lnTo>
                <a:lnTo>
                  <a:pt x="0" y="161925"/>
                </a:lnTo>
                <a:lnTo>
                  <a:pt x="12192000" y="1619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25125" y="133350"/>
            <a:ext cx="1362075" cy="3905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69" y="527685"/>
            <a:ext cx="577532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3525" y="1775142"/>
            <a:ext cx="10423525" cy="2226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mrajsinhmahida385-afk/ADEGuardVAER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390525" cy="3429000"/>
            </a:xfrm>
            <a:custGeom>
              <a:avLst/>
              <a:gdLst/>
              <a:ahLst/>
              <a:cxnLst/>
              <a:rect l="l" t="t" r="r" b="b"/>
              <a:pathLst>
                <a:path w="390525" h="3429000">
                  <a:moveTo>
                    <a:pt x="390525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390525" y="3429000"/>
                  </a:lnTo>
                  <a:lnTo>
                    <a:pt x="390525" y="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435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5575"/>
              <a:ext cx="12192000" cy="352425"/>
            </a:xfrm>
            <a:custGeom>
              <a:avLst/>
              <a:gdLst/>
              <a:ahLst/>
              <a:cxnLst/>
              <a:rect l="l" t="t" r="r" b="b"/>
              <a:pathLst>
                <a:path w="12192000" h="352425">
                  <a:moveTo>
                    <a:pt x="121920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2192000" y="3524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" y="361950"/>
              <a:ext cx="1600200" cy="457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50" y="238123"/>
              <a:ext cx="6419850" cy="65055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1150" y="266700"/>
              <a:ext cx="6115050" cy="6210300"/>
            </a:xfrm>
            <a:custGeom>
              <a:avLst/>
              <a:gdLst/>
              <a:ahLst/>
              <a:cxnLst/>
              <a:rect l="l" t="t" r="r" b="b"/>
              <a:pathLst>
                <a:path w="6115050" h="6210300">
                  <a:moveTo>
                    <a:pt x="611505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6115050" y="6210300"/>
                  </a:lnTo>
                  <a:lnTo>
                    <a:pt x="611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7217" y="1235392"/>
            <a:ext cx="32131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0" dirty="0">
                <a:latin typeface="Trebuchet MS"/>
                <a:cs typeface="Trebuchet MS"/>
              </a:rPr>
              <a:t>CAPSTONE</a:t>
            </a:r>
            <a:r>
              <a:rPr sz="2750" spc="-254" dirty="0">
                <a:latin typeface="Trebuchet MS"/>
                <a:cs typeface="Trebuchet MS"/>
              </a:rPr>
              <a:t> </a:t>
            </a:r>
            <a:r>
              <a:rPr sz="2750" spc="-70" dirty="0">
                <a:latin typeface="Trebuchet MS"/>
                <a:cs typeface="Trebuchet MS"/>
              </a:rPr>
              <a:t>PROJECT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217" y="2263393"/>
            <a:ext cx="4789170" cy="8630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750" b="1" spc="-105" dirty="0">
                <a:latin typeface="Trebuchet MS"/>
                <a:cs typeface="Trebuchet MS"/>
              </a:rPr>
              <a:t> ADE Guard – Adverse Drug Event Detection System</a:t>
            </a:r>
            <a:endParaRPr sz="275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337" y="3317303"/>
            <a:ext cx="4801870" cy="195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PRESENTED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BY: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latin typeface="Arial"/>
                <a:cs typeface="Arial"/>
              </a:rPr>
              <a:t>STUDENT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lang="en-IN" sz="1800" dirty="0">
                <a:latin typeface="Arial MT"/>
                <a:cs typeface="Arial MT"/>
              </a:rPr>
              <a:t>Mahida Hemrajsinh P.</a:t>
            </a: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00800"/>
              </a:lnSpc>
            </a:pPr>
            <a:r>
              <a:rPr sz="1800" b="1" dirty="0">
                <a:latin typeface="Arial"/>
                <a:cs typeface="Arial"/>
              </a:rPr>
              <a:t>COLLEGE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Institute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lang="en-IN" sz="1800" dirty="0">
                <a:latin typeface="Arial MT"/>
                <a:cs typeface="Arial MT"/>
              </a:rPr>
              <a:t>of</a:t>
            </a:r>
            <a:r>
              <a:rPr lang="en-IN" sz="1800" spc="-50" dirty="0">
                <a:latin typeface="Arial MT"/>
                <a:cs typeface="Arial MT"/>
              </a:rPr>
              <a:t> </a:t>
            </a:r>
            <a:r>
              <a:rPr lang="en-IN" sz="1800" spc="-10" dirty="0">
                <a:latin typeface="Arial MT"/>
                <a:cs typeface="Arial MT"/>
              </a:rPr>
              <a:t>Technology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Engineering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Research</a:t>
            </a:r>
            <a:endParaRPr sz="1800" dirty="0">
              <a:latin typeface="Arial MT"/>
              <a:cs typeface="Arial MT"/>
            </a:endParaRPr>
          </a:p>
          <a:p>
            <a:pPr marL="12700" marR="1468755">
              <a:lnSpc>
                <a:spcPts val="2100"/>
              </a:lnSpc>
              <a:spcBef>
                <a:spcPts val="140"/>
              </a:spcBef>
            </a:pPr>
            <a:r>
              <a:rPr sz="1800" b="1" dirty="0">
                <a:latin typeface="Arial"/>
                <a:cs typeface="Arial"/>
              </a:rPr>
              <a:t>DEPARTMENT: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Technology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20"/>
              </a:lnSpc>
            </a:pPr>
            <a:r>
              <a:rPr sz="1800" b="1" dirty="0">
                <a:latin typeface="Arial"/>
                <a:cs typeface="Arial"/>
              </a:rPr>
              <a:t>EMAIL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ID: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lang="en-IN" spc="-10" dirty="0">
                <a:latin typeface="Arial MT"/>
                <a:cs typeface="Arial MT"/>
              </a:rPr>
              <a:t>hemrajsinhmahida385@gmail.com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C4F971-AC35-7FC7-F2B0-213D0DEE82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483" y="0"/>
            <a:ext cx="5147035" cy="6505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69" y="591121"/>
            <a:ext cx="325818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0" dirty="0"/>
              <a:t>OUTLINE: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512762" y="1690433"/>
            <a:ext cx="4478655" cy="3640454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Problem</a:t>
            </a:r>
            <a:r>
              <a:rPr sz="2150" b="1" spc="170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Statement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Proposed</a:t>
            </a:r>
            <a:r>
              <a:rPr sz="2150" b="1" spc="160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System/Solution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System</a:t>
            </a:r>
            <a:r>
              <a:rPr sz="2150" b="1" spc="15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Development</a:t>
            </a:r>
            <a:r>
              <a:rPr sz="2150" b="1" spc="10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Approach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Algorithm</a:t>
            </a:r>
            <a:r>
              <a:rPr sz="2150" b="1" spc="10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&amp;</a:t>
            </a:r>
            <a:r>
              <a:rPr sz="2150" b="1" spc="9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Deployment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Result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Conclusion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Future</a:t>
            </a:r>
            <a:r>
              <a:rPr sz="2150" b="1" spc="120" dirty="0">
                <a:latin typeface="Arial"/>
                <a:cs typeface="Arial"/>
              </a:rPr>
              <a:t> </a:t>
            </a:r>
            <a:r>
              <a:rPr sz="2150" b="1" spc="-20" dirty="0">
                <a:latin typeface="Arial"/>
                <a:cs typeface="Arial"/>
              </a:rPr>
              <a:t>Scope</a:t>
            </a:r>
            <a:endParaRPr sz="21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References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69" y="610488"/>
            <a:ext cx="58540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35" dirty="0"/>
              <a:t>STATEMENT: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9570" y="1696783"/>
            <a:ext cx="9206230" cy="21945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65"/>
              </a:spcBef>
            </a:pPr>
            <a:r>
              <a:rPr lang="en-US" sz="1800" dirty="0">
                <a:latin typeface="Arial MT"/>
                <a:cs typeface="Arial MT"/>
              </a:rPr>
              <a:t>The healthcare sector faces critical challenges in medication safety:</a:t>
            </a:r>
          </a:p>
          <a:p>
            <a:pPr marL="12700" marR="5080">
              <a:lnSpc>
                <a:spcPct val="109500"/>
              </a:lnSpc>
              <a:spcBef>
                <a:spcPts val="65"/>
              </a:spcBef>
            </a:pPr>
            <a:endParaRPr lang="en-US" sz="1800" dirty="0">
              <a:latin typeface="Arial MT"/>
              <a:cs typeface="Arial MT"/>
            </a:endParaRPr>
          </a:p>
          <a:p>
            <a:pPr marL="298450" marR="5080" indent="-285750">
              <a:lnSpc>
                <a:spcPct val="1095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 MT"/>
                <a:cs typeface="Arial MT"/>
              </a:rPr>
              <a:t>Adverse Drug Events (ADEs) cause serious health risks</a:t>
            </a:r>
          </a:p>
          <a:p>
            <a:pPr marL="298450" marR="5080" indent="-285750">
              <a:lnSpc>
                <a:spcPct val="1095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 MT"/>
                <a:cs typeface="Arial MT"/>
              </a:rPr>
              <a:t> Drug interactions are often overlooked</a:t>
            </a:r>
          </a:p>
          <a:p>
            <a:pPr marL="298450" marR="5080" indent="-285750">
              <a:lnSpc>
                <a:spcPct val="1095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 MT"/>
                <a:cs typeface="Arial MT"/>
              </a:rPr>
              <a:t> Manual prescription checking is error-prone</a:t>
            </a:r>
          </a:p>
          <a:p>
            <a:pPr marL="298450" marR="5080" indent="-285750">
              <a:lnSpc>
                <a:spcPct val="1095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 MT"/>
                <a:cs typeface="Arial MT"/>
              </a:rPr>
              <a:t>Lack of real-time alert systems</a:t>
            </a:r>
          </a:p>
          <a:p>
            <a:pPr marL="298450" marR="5080" indent="-285750">
              <a:lnSpc>
                <a:spcPct val="1095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 MT"/>
                <a:cs typeface="Arial MT"/>
              </a:rPr>
              <a:t> Increasing patient data complexity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spc="-10" dirty="0"/>
              <a:t>SOLUTION: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1431861"/>
            <a:ext cx="9888855" cy="20288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</a:t>
            </a:r>
            <a:r>
              <a:rPr lang="en-US" sz="1800" dirty="0">
                <a:latin typeface="Arial"/>
                <a:cs typeface="Arial"/>
              </a:rPr>
              <a:t>ADE Guard is an intelligent system that: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endParaRPr lang="en-US" sz="1800" dirty="0">
              <a:latin typeface="Arial"/>
              <a:cs typeface="Arial"/>
            </a:endParaRP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sz="1800" dirty="0">
                <a:latin typeface="Arial"/>
                <a:cs typeface="Arial"/>
              </a:rPr>
              <a:t> Detects harmful drug interactions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sz="1800" dirty="0">
                <a:latin typeface="Arial"/>
                <a:cs typeface="Arial"/>
              </a:rPr>
              <a:t> Predicts adverse drug reactions using ML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sz="1800" dirty="0">
                <a:latin typeface="Arial"/>
                <a:cs typeface="Arial"/>
              </a:rPr>
              <a:t> Provides real-time alerts to doctors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sz="1800" dirty="0">
                <a:latin typeface="Arial"/>
                <a:cs typeface="Arial"/>
              </a:rPr>
              <a:t> Analyzes patient medical history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sz="1800" dirty="0">
                <a:latin typeface="Arial"/>
                <a:cs typeface="Arial"/>
              </a:rPr>
              <a:t> Improves decision-making in healthcare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" y="623824"/>
            <a:ext cx="540766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365375" algn="l"/>
              </a:tabLst>
            </a:pPr>
            <a:r>
              <a:rPr spc="-10" dirty="0"/>
              <a:t>SYSTEM</a:t>
            </a:r>
            <a:r>
              <a:rPr dirty="0"/>
              <a:t>	</a:t>
            </a:r>
            <a:r>
              <a:rPr spc="-10" dirty="0"/>
              <a:t>APPROACH: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57" y="1471866"/>
            <a:ext cx="8030845" cy="202876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</a:t>
            </a:r>
            <a:r>
              <a:rPr lang="en-IN" sz="1800" b="1" dirty="0">
                <a:latin typeface="Arial"/>
                <a:cs typeface="Arial"/>
              </a:rPr>
              <a:t> </a:t>
            </a:r>
            <a:r>
              <a:rPr lang="en-IN" sz="1800" dirty="0">
                <a:latin typeface="Arial"/>
                <a:cs typeface="Arial"/>
              </a:rPr>
              <a:t> Machine Learning &amp; Data Processing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endParaRPr lang="en-IN" dirty="0">
              <a:latin typeface="Arial"/>
              <a:cs typeface="Arial"/>
            </a:endParaRP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Algorithms: Logistic Regression, Decision Tree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Data handling: Pandas, NumPy###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 Backend* Python-based system* REST API (optional: Flask/</a:t>
            </a:r>
            <a:r>
              <a:rPr lang="en-IN" sz="1800" dirty="0" err="1">
                <a:latin typeface="Arial"/>
                <a:cs typeface="Arial"/>
              </a:rPr>
              <a:t>FastAPI</a:t>
            </a:r>
            <a:r>
              <a:rPr lang="en-IN" sz="1800" dirty="0">
                <a:latin typeface="Arial"/>
                <a:cs typeface="Arial"/>
              </a:rPr>
              <a:t>)### 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Frontend* Simple UI using HTML, CSS###</a:t>
            </a:r>
          </a:p>
          <a:p>
            <a:pPr marL="12700" marR="508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 Database* Patient records + drug dataset (CSV/MySQL</a:t>
            </a:r>
            <a:r>
              <a:rPr lang="en-IN" sz="1800" b="1" dirty="0">
                <a:latin typeface="Arial"/>
                <a:cs typeface="Arial"/>
              </a:rPr>
              <a:t>)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69" y="610488"/>
            <a:ext cx="735647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ALGORITHM</a:t>
            </a:r>
            <a:r>
              <a:rPr spc="-5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spc="60" dirty="0"/>
              <a:t>D</a:t>
            </a:r>
            <a:r>
              <a:rPr spc="-10" dirty="0"/>
              <a:t>E</a:t>
            </a:r>
            <a:r>
              <a:rPr spc="65" dirty="0"/>
              <a:t>P</a:t>
            </a:r>
            <a:r>
              <a:rPr spc="-15" dirty="0"/>
              <a:t>L</a:t>
            </a:r>
            <a:r>
              <a:rPr spc="70" dirty="0"/>
              <a:t>O</a:t>
            </a:r>
            <a:r>
              <a:rPr spc="-10" dirty="0"/>
              <a:t>Y</a:t>
            </a:r>
            <a:r>
              <a:rPr spc="70" dirty="0"/>
              <a:t>M</a:t>
            </a:r>
            <a:r>
              <a:rPr spc="-5" dirty="0"/>
              <a:t>E</a:t>
            </a:r>
            <a:r>
              <a:rPr spc="60" dirty="0"/>
              <a:t>N</a:t>
            </a:r>
            <a:r>
              <a:rPr spc="-465" dirty="0"/>
              <a:t>T</a:t>
            </a:r>
            <a:r>
              <a:rPr spc="2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457" y="1533207"/>
            <a:ext cx="10753090" cy="230858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</a:t>
            </a:r>
            <a:r>
              <a:rPr lang="en-IN" sz="1800" b="1" dirty="0">
                <a:latin typeface="Arial"/>
                <a:cs typeface="Arial"/>
              </a:rPr>
              <a:t> </a:t>
            </a:r>
            <a:r>
              <a:rPr lang="en-IN" sz="1800" dirty="0">
                <a:latin typeface="Arial"/>
                <a:cs typeface="Arial"/>
              </a:rPr>
              <a:t> Algorithm</a:t>
            </a:r>
          </a:p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1. Input patient data (age, disease, drugs)</a:t>
            </a:r>
          </a:p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2. Preprocess data</a:t>
            </a:r>
          </a:p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3. Apply ML model</a:t>
            </a:r>
          </a:p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4. Predict ADE risk score</a:t>
            </a:r>
          </a:p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5. Generate alert if risk is high### </a:t>
            </a:r>
          </a:p>
          <a:p>
            <a:pPr marL="12700" marR="31305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Deployment* Local system / Web app* Can be deployed using Flask or Django* Optional cloud deployment---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65" dirty="0"/>
              <a:t>R</a:t>
            </a:r>
            <a:r>
              <a:rPr spc="-5" dirty="0"/>
              <a:t>E</a:t>
            </a:r>
            <a:r>
              <a:rPr spc="65" dirty="0"/>
              <a:t>S</a:t>
            </a:r>
            <a:r>
              <a:rPr spc="-10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spc="2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1396936"/>
            <a:ext cx="10597515" cy="143084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6987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</a:t>
            </a:r>
            <a:r>
              <a:rPr lang="en-IN" b="1" dirty="0">
                <a:latin typeface="Arial"/>
                <a:cs typeface="Arial"/>
              </a:rPr>
              <a:t> </a:t>
            </a:r>
            <a:r>
              <a:rPr lang="en-IN" sz="1800" dirty="0">
                <a:latin typeface="Arial"/>
                <a:cs typeface="Arial"/>
              </a:rPr>
              <a:t>Successfully predicts drug interaction risks</a:t>
            </a:r>
          </a:p>
          <a:p>
            <a:pPr marL="12700" marR="26987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Provides instant alerts</a:t>
            </a:r>
          </a:p>
          <a:p>
            <a:pPr marL="12700" marR="26987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Improves patient safety</a:t>
            </a:r>
          </a:p>
          <a:p>
            <a:pPr marL="12700" marR="26987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 Reduces manual effort</a:t>
            </a:r>
          </a:p>
          <a:p>
            <a:pPr marL="12700" marR="269875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IN" sz="1800" dirty="0">
                <a:latin typeface="Arial"/>
                <a:cs typeface="Arial"/>
              </a:rPr>
              <a:t>👉 Output example:“⚠️ High Risk: Drug A + Drug B may cause severe reaction”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481B98-F8A5-4E35-0B05-C8F103E87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420"/>
            <a:ext cx="12192000" cy="62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9C9AF-57B2-84EF-6B14-82BC39A32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2192000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6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706DA-1551-31CB-33D2-8962F50DC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90"/>
            <a:ext cx="12192000" cy="65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50111-F4FD-14D0-461F-6418D2765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90"/>
            <a:ext cx="12192000" cy="671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07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14F15-AE98-1415-5FB2-2726ACCE7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3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775" y="1320736"/>
            <a:ext cx="9722485" cy="115108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8735" indent="-10160">
              <a:lnSpc>
                <a:spcPct val="100800"/>
              </a:lnSpc>
              <a:spcBef>
                <a:spcPts val="85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 ADE Guard helps in early detection of drug risks</a:t>
            </a:r>
          </a:p>
          <a:p>
            <a:pPr marL="12700" marR="38735" indent="-10160">
              <a:lnSpc>
                <a:spcPct val="100800"/>
              </a:lnSpc>
              <a:spcBef>
                <a:spcPts val="85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Reduces medical errors significantly</a:t>
            </a:r>
          </a:p>
          <a:p>
            <a:pPr marL="12700" marR="38735" indent="-10160">
              <a:lnSpc>
                <a:spcPct val="100800"/>
              </a:lnSpc>
              <a:spcBef>
                <a:spcPts val="85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Supports doctors in better decision-making</a:t>
            </a:r>
          </a:p>
          <a:p>
            <a:pPr marL="12700" marR="38735" indent="-10160">
              <a:lnSpc>
                <a:spcPct val="100800"/>
              </a:lnSpc>
              <a:spcBef>
                <a:spcPts val="85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 Makes healthcare systems safer and smarter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-105" dirty="0"/>
              <a:t> </a:t>
            </a:r>
            <a:r>
              <a:rPr spc="-10" dirty="0"/>
              <a:t>SCOPE: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63525" y="1775142"/>
            <a:ext cx="10423525" cy="14436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8829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b="1" dirty="0">
                <a:latin typeface="Arial"/>
                <a:cs typeface="Arial"/>
              </a:rPr>
              <a:t>	</a:t>
            </a:r>
            <a:r>
              <a:rPr lang="en-US" dirty="0">
                <a:latin typeface="Arial"/>
                <a:cs typeface="Arial"/>
              </a:rPr>
              <a:t> Integration with hospital databases</a:t>
            </a:r>
          </a:p>
          <a:p>
            <a:pPr marL="12700" marR="28829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dirty="0">
                <a:latin typeface="Arial"/>
                <a:cs typeface="Arial"/>
              </a:rPr>
              <a:t>Use of deep learning for higher accuracy</a:t>
            </a:r>
          </a:p>
          <a:p>
            <a:pPr marL="12700" marR="28829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dirty="0">
                <a:latin typeface="Arial"/>
                <a:cs typeface="Arial"/>
              </a:rPr>
              <a:t>Mobile app for doctors/pharmacists</a:t>
            </a:r>
          </a:p>
          <a:p>
            <a:pPr marL="12700" marR="28829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dirty="0">
                <a:latin typeface="Arial"/>
                <a:cs typeface="Arial"/>
              </a:rPr>
              <a:t> Real-time IoT health monitoring</a:t>
            </a:r>
          </a:p>
          <a:p>
            <a:pPr marL="12700" marR="288290" indent="-10160">
              <a:lnSpc>
                <a:spcPct val="100800"/>
              </a:lnSpc>
              <a:spcBef>
                <a:spcPts val="8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lang="en-US" dirty="0">
                <a:latin typeface="Arial"/>
                <a:cs typeface="Arial"/>
              </a:rPr>
              <a:t> Integration with AI chat assistants---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5" y="527685"/>
            <a:ext cx="361696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05" y="1447800"/>
            <a:ext cx="9622155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 WHO – Adverse Drug Reaction Reports</a:t>
            </a:r>
          </a:p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 Scikit-learn Documentation</a:t>
            </a:r>
          </a:p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lang="en-US" sz="1800" dirty="0">
                <a:latin typeface="Arial MT"/>
                <a:cs typeface="Arial MT"/>
              </a:rPr>
              <a:t> Research papers on Drug Interaction Prediction* Kaggle Healthcare Datasets</a:t>
            </a:r>
          </a:p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lang="en-IN" sz="1800" dirty="0" err="1">
                <a:latin typeface="Franklin Gothic Medium"/>
                <a:cs typeface="Franklin Gothic Medium"/>
              </a:rPr>
              <a:t>Github</a:t>
            </a:r>
            <a:r>
              <a:rPr lang="en-IN" sz="1800" dirty="0">
                <a:latin typeface="Franklin Gothic Medium"/>
                <a:cs typeface="Franklin Gothic Medium"/>
              </a:rPr>
              <a:t> link: </a:t>
            </a:r>
            <a:r>
              <a:rPr lang="en-IN" sz="1800" dirty="0">
                <a:latin typeface="Franklin Gothic Medium"/>
                <a:cs typeface="Franklin Gothic Medium"/>
                <a:hlinkClick r:id="rId2"/>
              </a:rPr>
              <a:t>https://github.com/hemrajsinhmahida385-afk/ADEGuardVAERS</a:t>
            </a:r>
            <a:endParaRPr lang="en-IN" sz="1800" dirty="0">
              <a:latin typeface="Franklin Gothic Medium"/>
              <a:cs typeface="Franklin Gothic Medium"/>
            </a:endParaRPr>
          </a:p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lang="en-IN" sz="1800" dirty="0">
                <a:latin typeface="Franklin Gothic Medium"/>
                <a:cs typeface="Franklin Gothic Medium"/>
              </a:rPr>
              <a:t> </a:t>
            </a:r>
            <a:r>
              <a:rPr lang="nb-NO" sz="1800">
                <a:latin typeface="Franklin Gothic Medium"/>
                <a:cs typeface="Franklin Gothic Medium"/>
              </a:rPr>
              <a:t>VAERS Dataset: https://share.google/AhkiI8wtN3mqsX3Fo</a:t>
            </a:r>
            <a:endParaRPr sz="18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8029" y="3013646"/>
            <a:ext cx="31064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001F5F"/>
                </a:solidFill>
              </a:rPr>
              <a:t>Thank</a:t>
            </a:r>
            <a:r>
              <a:rPr sz="4800" spc="-330" dirty="0">
                <a:solidFill>
                  <a:srgbClr val="001F5F"/>
                </a:solidFill>
              </a:rPr>
              <a:t> </a:t>
            </a:r>
            <a:r>
              <a:rPr sz="4800" spc="-25" dirty="0">
                <a:solidFill>
                  <a:srgbClr val="001F5F"/>
                </a:solidFill>
              </a:rPr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427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Franklin Gothic Medium</vt:lpstr>
      <vt:lpstr>Trebuchet MS</vt:lpstr>
      <vt:lpstr>Office Theme</vt:lpstr>
      <vt:lpstr>CAPSTONE PROJECT</vt:lpstr>
      <vt:lpstr>OUTLINE:</vt:lpstr>
      <vt:lpstr>PROBLEM STATEMENT:</vt:lpstr>
      <vt:lpstr>PROPOSED SOLUTION:</vt:lpstr>
      <vt:lpstr>SYSTEM APPROACH:</vt:lpstr>
      <vt:lpstr>ALGORITHM &amp; DEPLOYMENT:</vt:lpstr>
      <vt:lpstr>RESULT: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FUTURE SCOPE: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Hemrajsinh Mahida</cp:lastModifiedBy>
  <cp:revision>1</cp:revision>
  <dcterms:created xsi:type="dcterms:W3CDTF">2026-03-30T09:48:32Z</dcterms:created>
  <dcterms:modified xsi:type="dcterms:W3CDTF">2026-03-30T10:52:40Z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LastSaved">
    <vt:filetime>2026-03-30T00:00:00Z</vt:filetime>
  </property>
</Properties>
</file>